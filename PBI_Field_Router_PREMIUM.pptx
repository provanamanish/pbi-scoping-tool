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A5D82-A370-4348-B421-27DB50C96E8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E80DA-591C-4783-9472-76FF65B5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72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E80DA-591C-4783-9472-76FF65B56C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7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4FA8D8"/>
          </a:solidFill>
          <a:ln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A0F14"/>
                </a:solidFill>
              </a:defRPr>
            </a:pPr>
            <a:r>
              <a:t>Power BI Field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A0F14"/>
                </a:solidFill>
              </a:defRPr>
            </a:pPr>
            <a:r>
              <a:t>Automated Field Mapping &amp; Scoping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0"/>
              </a:spcBef>
              <a:defRPr sz="3200">
                <a:solidFill>
                  <a:srgbClr val="3ED598"/>
                </a:solidFill>
              </a:defRPr>
            </a:pPr>
            <a:r>
              <a:t>Transform Your Power BI Migration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A8D8"/>
          </a:solidFill>
          <a:ln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FA8D8"/>
                </a:solidFill>
              </a:defRPr>
            </a:pPr>
            <a:r>
              <a:t>WHAT is Power BI Field Router?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23741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ED598"/>
                </a:solidFill>
              </a:defRPr>
            </a:pPr>
            <a:r>
              <a:rPr sz="2400" dirty="0"/>
              <a:t>🎯 Core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101800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4B4B4"/>
                </a:solidFill>
              </a:defRPr>
            </a:pPr>
            <a:r>
              <a:rPr sz="2000" dirty="0"/>
              <a:t>Automatically match and map fields between old and new Power BI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24080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ED598"/>
                </a:solidFill>
              </a:defRPr>
            </a:pPr>
            <a:r>
              <a:rPr sz="2400" dirty="0"/>
              <a:t>🔄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101800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4B4B4"/>
                </a:solidFill>
              </a:defRPr>
            </a:pPr>
            <a:r>
              <a:rPr sz="2000" dirty="0"/>
              <a:t>Upload both reports, select a page, and get instant field mappings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5872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ED598"/>
                </a:solidFill>
              </a:defRPr>
            </a:pPr>
            <a:r>
              <a:rPr sz="2400" dirty="0"/>
              <a:t>✅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83480"/>
            <a:ext cx="101800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4B4B4"/>
                </a:solidFill>
              </a:defRPr>
            </a:pPr>
            <a:r>
              <a:rPr sz="2000" dirty="0"/>
              <a:t>Color-coded results with confidence scores + CSV/Excel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A8D8"/>
          </a:solidFill>
          <a:ln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FA8D8"/>
                </a:solidFill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A8D8"/>
                </a:solidFill>
              </a:defRPr>
            </a:pPr>
            <a:r>
              <a:rPr sz="2400" dirty="0"/>
              <a:t>🚀 Web-Based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Access from any browser, no installation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458" y="1280160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90618" y="14173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A8D8"/>
                </a:solidFill>
              </a:defRPr>
            </a:pPr>
            <a:r>
              <a:rPr sz="2400" dirty="0"/>
              <a:t>🔐 Local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0618" y="21031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All files stay on YOUR machine, nothing sent online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2556" y="1280160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9716" y="14173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A8D8"/>
                </a:solidFill>
              </a:defRPr>
            </a:pPr>
            <a:r>
              <a:rPr sz="2400" dirty="0"/>
              <a:t>⚡ Fast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9716" y="21031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Processes large reports in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94759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A8D8"/>
                </a:solidFill>
              </a:defRPr>
            </a:pPr>
            <a:r>
              <a:rPr sz="2400" dirty="0"/>
              <a:t>🌐 Team Sharing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Share link on same network instantly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3458" y="3794759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0618" y="39319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A8D8"/>
                </a:solidFill>
              </a:defRPr>
            </a:pPr>
            <a:r>
              <a:rPr sz="2400" dirty="0"/>
              <a:t>📊 Smart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46177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5-tier confidence system with </a:t>
            </a:r>
            <a:r>
              <a:rPr sz="2000" dirty="0" err="1"/>
              <a:t>Levenshtein</a:t>
            </a:r>
            <a:r>
              <a:rPr sz="2000" dirty="0"/>
              <a:t> algorithm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2556" y="3794759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9716" y="39319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A8D8"/>
                </a:solidFill>
              </a:defRPr>
            </a:pPr>
            <a:r>
              <a:rPr sz="2400" dirty="0"/>
              <a:t>📥 Easy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9716" y="46177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Download results as CSV or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ED598"/>
          </a:solidFill>
          <a:ln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ED598"/>
                </a:solidFill>
              </a:defRPr>
            </a:pPr>
            <a:r>
              <a:t>HOW Does it Work?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286000"/>
            <a:ext cx="1645920" cy="731520"/>
          </a:xfrm>
          <a:prstGeom prst="ellipse">
            <a:avLst/>
          </a:prstGeom>
          <a:solidFill>
            <a:srgbClr val="3ED598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0F14"/>
                </a:solidFill>
              </a:defRPr>
            </a:pPr>
            <a: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80" y="2514600"/>
            <a:ext cx="548640" cy="274320"/>
          </a:xfrm>
          <a:prstGeom prst="rightArrow">
            <a:avLst/>
          </a:prstGeom>
          <a:solidFill>
            <a:srgbClr val="3ED598"/>
          </a:solidFill>
          <a:ln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2194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0"/>
                </a:solidFill>
              </a:defRPr>
            </a:pPr>
            <a:r>
              <a:rPr sz="2000" dirty="0"/>
              <a:t>Upload</a:t>
            </a:r>
            <a:br>
              <a:rPr sz="2000" dirty="0"/>
            </a:br>
            <a:r>
              <a:rPr sz="2000" dirty="0"/>
              <a:t>OLD .</a:t>
            </a:r>
            <a:r>
              <a:rPr sz="2000" dirty="0" err="1"/>
              <a:t>pbix</a:t>
            </a:r>
            <a:endParaRPr sz="2000" dirty="0"/>
          </a:p>
        </p:txBody>
      </p:sp>
      <p:sp>
        <p:nvSpPr>
          <p:cNvPr id="8" name="Oval 7"/>
          <p:cNvSpPr/>
          <p:nvPr/>
        </p:nvSpPr>
        <p:spPr>
          <a:xfrm>
            <a:off x="2560320" y="2286000"/>
            <a:ext cx="1645920" cy="731520"/>
          </a:xfrm>
          <a:prstGeom prst="ellipse">
            <a:avLst/>
          </a:prstGeom>
          <a:solidFill>
            <a:srgbClr val="3ED598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24231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0F14"/>
                </a:solidFill>
              </a:defRPr>
            </a:pPr>
            <a:r>
              <a:t>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97679" y="2514600"/>
            <a:ext cx="548640" cy="274320"/>
          </a:xfrm>
          <a:prstGeom prst="rightArrow">
            <a:avLst/>
          </a:prstGeom>
          <a:solidFill>
            <a:srgbClr val="3ED598"/>
          </a:solidFill>
          <a:ln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2194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0"/>
                </a:solidFill>
              </a:defRPr>
            </a:pPr>
            <a:r>
              <a:rPr sz="2000" dirty="0"/>
              <a:t>Upload</a:t>
            </a:r>
            <a:br>
              <a:rPr sz="2000" dirty="0"/>
            </a:br>
            <a:r>
              <a:rPr sz="2000" dirty="0"/>
              <a:t>NEW .</a:t>
            </a:r>
            <a:r>
              <a:rPr sz="2000" dirty="0" err="1"/>
              <a:t>pbix</a:t>
            </a:r>
            <a:endParaRPr sz="2000" dirty="0"/>
          </a:p>
        </p:txBody>
      </p:sp>
      <p:sp>
        <p:nvSpPr>
          <p:cNvPr id="12" name="Oval 11"/>
          <p:cNvSpPr/>
          <p:nvPr/>
        </p:nvSpPr>
        <p:spPr>
          <a:xfrm>
            <a:off x="4389120" y="2286000"/>
            <a:ext cx="1645920" cy="731520"/>
          </a:xfrm>
          <a:prstGeom prst="ellipse">
            <a:avLst/>
          </a:prstGeom>
          <a:solidFill>
            <a:srgbClr val="3ED598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0F14"/>
                </a:solidFill>
              </a:defRPr>
            </a:pPr>
            <a:r>
              <a:t>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26479" y="2514600"/>
            <a:ext cx="548640" cy="274320"/>
          </a:xfrm>
          <a:prstGeom prst="rightArrow">
            <a:avLst/>
          </a:prstGeom>
          <a:solidFill>
            <a:srgbClr val="3ED598"/>
          </a:solidFill>
          <a:ln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3291840"/>
            <a:ext cx="2194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0"/>
                </a:solidFill>
              </a:defRPr>
            </a:pPr>
            <a:r>
              <a:rPr sz="2000" dirty="0"/>
              <a:t>Select</a:t>
            </a:r>
            <a:br>
              <a:rPr sz="2000" dirty="0"/>
            </a:br>
            <a:r>
              <a:rPr sz="2000" dirty="0"/>
              <a:t>Page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286000"/>
            <a:ext cx="1645920" cy="731520"/>
          </a:xfrm>
          <a:prstGeom prst="ellipse">
            <a:avLst/>
          </a:prstGeom>
          <a:solidFill>
            <a:srgbClr val="3ED598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0F14"/>
                </a:solidFill>
              </a:defRPr>
            </a:pPr>
            <a:r>
              <a:t>4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55279" y="2514600"/>
            <a:ext cx="548640" cy="274320"/>
          </a:xfrm>
          <a:prstGeom prst="rightArrow">
            <a:avLst/>
          </a:prstGeom>
          <a:solidFill>
            <a:srgbClr val="3ED598"/>
          </a:solidFill>
          <a:ln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3291840"/>
            <a:ext cx="2194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0"/>
                </a:solidFill>
              </a:defRPr>
            </a:pPr>
            <a:r>
              <a:rPr sz="2000" dirty="0"/>
              <a:t>Auto</a:t>
            </a:r>
            <a:br>
              <a:rPr sz="2000" dirty="0"/>
            </a:br>
            <a:r>
              <a:rPr sz="2000" dirty="0"/>
              <a:t>Match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0" y="2286000"/>
            <a:ext cx="1645920" cy="731520"/>
          </a:xfrm>
          <a:prstGeom prst="ellipse">
            <a:avLst/>
          </a:prstGeom>
          <a:solidFill>
            <a:srgbClr val="3ED598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4231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0F14"/>
                </a:solidFill>
              </a:defRPr>
            </a:pPr>
            <a:r>
              <a:t>5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84080" y="2514600"/>
            <a:ext cx="548640" cy="274320"/>
          </a:xfrm>
          <a:prstGeom prst="rightArrow">
            <a:avLst/>
          </a:prstGeom>
          <a:solidFill>
            <a:srgbClr val="3ED598"/>
          </a:solidFill>
          <a:ln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0" y="3291840"/>
            <a:ext cx="2194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0"/>
                </a:solidFill>
              </a:defRPr>
            </a:pPr>
            <a:r>
              <a:rPr sz="2000" dirty="0"/>
              <a:t>Review</a:t>
            </a:r>
            <a:br>
              <a:rPr sz="2000" dirty="0"/>
            </a:br>
            <a:r>
              <a:rPr sz="2000" dirty="0"/>
              <a:t>Results</a:t>
            </a:r>
          </a:p>
        </p:txBody>
      </p:sp>
      <p:sp>
        <p:nvSpPr>
          <p:cNvPr id="24" name="Oval 23"/>
          <p:cNvSpPr/>
          <p:nvPr/>
        </p:nvSpPr>
        <p:spPr>
          <a:xfrm>
            <a:off x="9875520" y="2286000"/>
            <a:ext cx="1645920" cy="731520"/>
          </a:xfrm>
          <a:prstGeom prst="ellipse">
            <a:avLst/>
          </a:prstGeom>
          <a:solidFill>
            <a:srgbClr val="3ED598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0" y="24231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0F14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291840"/>
            <a:ext cx="2194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0"/>
                </a:solidFill>
              </a:defRPr>
            </a:pPr>
            <a:r>
              <a:rPr sz="2000" dirty="0"/>
              <a:t>Export</a:t>
            </a:r>
            <a:br>
              <a:rPr sz="2000" dirty="0"/>
            </a:br>
            <a:r>
              <a:rPr sz="2000" dirty="0"/>
              <a:t>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ED598"/>
          </a:solidFill>
          <a:ln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ED598"/>
                </a:solidFill>
              </a:defRPr>
            </a:pPr>
            <a:r>
              <a:t>PROBLEMS →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141C23"/>
          </a:solidFill>
          <a:ln w="381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52242" y="1280160"/>
            <a:ext cx="269631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ED598"/>
                </a:solidFill>
              </a:defRPr>
            </a:pPr>
            <a:r>
              <a:rPr sz="2400" dirty="0"/>
              <a:t>❌ WITHOUT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Manual field mapping (4-6 hours)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Easy to miss field relationships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Inconsistent naming confusion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Hard to track missing fields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No documentation trail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Multiple people doing same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097280"/>
            <a:ext cx="5486400" cy="5303520"/>
          </a:xfrm>
          <a:prstGeom prst="roundRect">
            <a:avLst/>
          </a:prstGeom>
          <a:solidFill>
            <a:srgbClr val="141C23"/>
          </a:solidFill>
          <a:ln w="381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3662" y="1280160"/>
            <a:ext cx="213526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0A93F"/>
                </a:solidFill>
              </a:defRPr>
            </a:pPr>
            <a:r>
              <a:rPr sz="2400" dirty="0"/>
              <a:t>✅ WITH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2415" y="1828800"/>
            <a:ext cx="49377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Automatic matching in minutes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Complete field visibility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Intelligent naming recognition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Clear missing field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Professional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Reusable for entire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A93F"/>
          </a:solidFill>
          <a:ln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0A93F"/>
                </a:solidFill>
              </a:defRPr>
            </a:pPr>
            <a:r>
              <a:t>5-TIER FIELD MATCHING CONFIDENCE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31520" cy="7315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defRPr sz="3200"/>
            </a:pPr>
            <a:r>
              <a:rPr lang="en-US" dirty="0"/>
              <a:t>🟢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19570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A93F"/>
                </a:solidFill>
              </a:defRPr>
            </a:pPr>
            <a:r>
              <a:rPr sz="2400" dirty="0"/>
              <a:t>EXACT (100%)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0020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Identical field names - Safe to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731520" cy="7315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rPr dirty="0"/>
              <a:t>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21805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A93F"/>
                </a:solidFill>
              </a:defRPr>
            </a:pPr>
            <a:r>
              <a:rPr sz="2400" dirty="0"/>
              <a:t>LIKELY (82-99%)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0604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Very similar - High confidence 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731520" cy="731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rPr dirty="0"/>
              <a:t>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91840"/>
            <a:ext cx="258596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A93F"/>
                </a:solidFill>
              </a:defRPr>
            </a:pPr>
            <a:r>
              <a:rPr sz="2400" dirty="0"/>
              <a:t>POSSIBLE (60-81%)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1188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Partial match - Review before using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731520" cy="7315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rPr dirty="0"/>
              <a:t>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97680"/>
            <a:ext cx="20115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A93F"/>
                </a:solidFill>
              </a:defRPr>
            </a:pPr>
            <a:r>
              <a:rPr sz="2400" dirty="0"/>
              <a:t>WEAK (0-59%)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1772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Low confidence - Likely needs manual creation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731520" cy="7315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rPr dirty="0"/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303520"/>
            <a:ext cx="22393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A93F"/>
                </a:solidFill>
              </a:defRPr>
            </a:pPr>
            <a:r>
              <a:rPr sz="2400" dirty="0"/>
              <a:t>NO MATCH (0%)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2356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Field doesn't exist in new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ED598"/>
          </a:solidFill>
          <a:ln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ED598"/>
                </a:solidFill>
              </a:defRPr>
            </a:pPr>
            <a:r>
              <a:t>REAL-WORLD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D598"/>
                </a:solidFill>
              </a:defRPr>
            </a:pPr>
            <a:r>
              <a:rPr sz="2400" dirty="0"/>
              <a:t>🏢 Report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Move reports to new Power BI workspace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458" y="1280160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90618" y="14173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D598"/>
                </a:solidFill>
              </a:defRPr>
            </a:pPr>
            <a:r>
              <a:rPr sz="2400" dirty="0"/>
              <a:t>🔄 Model Upgrade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0618" y="21031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Upgrade Power BI data model to new 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2556" y="1280160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9716" y="14173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D598"/>
                </a:solidFill>
              </a:defRPr>
            </a:pPr>
            <a:r>
              <a:rPr sz="2400" dirty="0"/>
              <a:t>📊 Consolidation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9716" y="21031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Merge multiple reports into single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94759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D598"/>
                </a:solidFill>
              </a:defRPr>
            </a:pPr>
            <a:r>
              <a:rPr sz="2400" dirty="0"/>
              <a:t>👥 Team Handoff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Pass reports between developers smoothly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3458" y="3794759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0618" y="39319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D598"/>
                </a:solidFill>
              </a:defRPr>
            </a:pPr>
            <a:r>
              <a:rPr sz="2400" dirty="0"/>
              <a:t>📚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46177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Create field mapping for stakeholders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2556" y="3794759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9716" y="39319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D598"/>
                </a:solidFill>
              </a:defRPr>
            </a:pPr>
            <a:r>
              <a:rPr sz="2400" dirty="0"/>
              <a:t>🎓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9716" y="46177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Teach new team members report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A8D8"/>
          </a:solidFill>
          <a:ln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FA8D8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141C23"/>
          </a:solidFill>
          <a:ln w="381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97840" y="1280160"/>
            <a:ext cx="16051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ED598"/>
                </a:solidFill>
              </a:defRPr>
            </a:pPr>
            <a:r>
              <a:rPr sz="2400" dirty="0"/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Modern HTML/CSS/JavaScript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Dark theme UI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Responsive grid layout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Real-time page preview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Drag-drop file upload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Search &amp; filter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097280"/>
            <a:ext cx="5486400" cy="5303520"/>
          </a:xfrm>
          <a:prstGeom prst="roundRect">
            <a:avLst/>
          </a:prstGeom>
          <a:solidFill>
            <a:srgbClr val="141C23"/>
          </a:solidFill>
          <a:ln w="381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83505" y="1280160"/>
            <a:ext cx="14155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0A93F"/>
                </a:solidFill>
              </a:defRPr>
            </a:pPr>
            <a:r>
              <a:rPr sz="2400" dirty="0"/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2415" y="1828800"/>
            <a:ext cx="49377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Python Flask server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Smart field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</a:t>
            </a:r>
            <a:r>
              <a:rPr sz="2000" dirty="0" err="1"/>
              <a:t>Levenshtein</a:t>
            </a:r>
            <a:r>
              <a:rPr sz="2000" dirty="0"/>
              <a:t> distance engine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Dual .</a:t>
            </a:r>
            <a:r>
              <a:rPr sz="2000" dirty="0" err="1"/>
              <a:t>pbix</a:t>
            </a:r>
            <a:r>
              <a:rPr sz="2000" dirty="0"/>
              <a:t> format parser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pandas data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Session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A93F"/>
          </a:solidFill>
          <a:ln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0A93F"/>
                </a:solidFill>
              </a:defRPr>
            </a:pPr>
            <a:r>
              <a:t>FUTURE POSSIBILITIES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93F"/>
                </a:solidFill>
              </a:defRPr>
            </a:pPr>
            <a:r>
              <a:rPr sz="2400" dirty="0"/>
              <a:t>🤖 AI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Machine learning field name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458" y="1280160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90618" y="14173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93F"/>
                </a:solidFill>
              </a:defRPr>
            </a:pPr>
            <a:r>
              <a:rPr sz="2400" dirty="0"/>
              <a:t>🔄 Batch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0618" y="21031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Handle multiple pages/files simultaneously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2556" y="1280160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9716" y="14173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93F"/>
                </a:solidFill>
              </a:defRPr>
            </a:pPr>
            <a:r>
              <a:rPr sz="2400" dirty="0"/>
              <a:t>📈 DAX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9716" y="21031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Auto-convert DAX expressions between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94759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93F"/>
                </a:solidFill>
              </a:defRPr>
            </a:pPr>
            <a:r>
              <a:rPr sz="2400" dirty="0"/>
              <a:t>🔗 Field Lineage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Track complete field dependency chain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3458" y="3794759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0618" y="39319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93F"/>
                </a:solidFill>
              </a:defRPr>
            </a:pPr>
            <a:r>
              <a:rPr sz="2400" dirty="0"/>
              <a:t>📱 Mobile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46177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Access from tablet or smartphone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2556" y="3794759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9716" y="39319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93F"/>
                </a:solidFill>
              </a:defRPr>
            </a:pPr>
            <a:r>
              <a:rPr sz="2400" dirty="0"/>
              <a:t>🌍 Cloud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9716" y="46177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Direct Power BI REST API connection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ED598"/>
          </a:solidFill>
          <a:ln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ED598"/>
                </a:solidFill>
              </a:defRPr>
            </a:pPr>
            <a:r>
              <a:t>QUICK START (5 MINUTES)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99418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ED598"/>
                </a:solidFill>
              </a:defRPr>
            </a:pPr>
            <a:r>
              <a:rPr sz="2400" dirty="0"/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0020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Run: python3.14 app.py OR click START_TOOL.ps1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2️⃣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22813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ED598"/>
                </a:solidFill>
              </a:defRPr>
            </a:pPr>
            <a:r>
              <a:rPr sz="2400" dirty="0"/>
              <a:t>OPEN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0604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Navigate to http://127.0.0.1:5000 (shown in terminal)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91840"/>
            <a:ext cx="198483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ED598"/>
                </a:solidFill>
              </a:defRPr>
            </a:pPr>
            <a:r>
              <a:rPr sz="2400" dirty="0"/>
              <a:t>UPLOAD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1188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Select your old and new .</a:t>
            </a:r>
            <a:r>
              <a:rPr sz="2000" dirty="0" err="1"/>
              <a:t>pbix</a:t>
            </a:r>
            <a:r>
              <a:rPr sz="2000" dirty="0"/>
              <a:t>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4️⃣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97680"/>
            <a:ext cx="13468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ED598"/>
                </a:solidFill>
              </a:defRPr>
            </a:pPr>
            <a:r>
              <a:rPr sz="2400" dirty="0"/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1772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Click 'Analyze Reports' button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5️⃣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303520"/>
            <a:ext cx="24416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ED598"/>
                </a:solidFill>
              </a:defRPr>
            </a:pPr>
            <a:r>
              <a:rPr sz="2400" dirty="0"/>
              <a:t>ROUTE &amp;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2356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Select page → Review → Export to CSV/Excel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A8D8"/>
          </a:solidFill>
          <a:ln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FA8D8"/>
                </a:solidFill>
              </a:defRPr>
            </a:pPr>
            <a:r>
              <a:t>SECURITY &amp;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141C23"/>
          </a:solidFill>
          <a:ln w="381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49096" y="1280160"/>
            <a:ext cx="250260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ED598"/>
                </a:solidFill>
              </a:defRPr>
            </a:pPr>
            <a:r>
              <a:rPr sz="2400" dirty="0"/>
              <a:t>🔒 DATA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Files processed on YOUR machine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Nothing sent to external servers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Works completely offline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No cloud storage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No credentials stored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Open source for auditing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097280"/>
            <a:ext cx="5486400" cy="5303520"/>
          </a:xfrm>
          <a:prstGeom prst="roundRect">
            <a:avLst/>
          </a:prstGeom>
          <a:solidFill>
            <a:srgbClr val="141C23"/>
          </a:solidFill>
          <a:ln w="381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97699" y="1280160"/>
            <a:ext cx="238719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0A93F"/>
                </a:solidFill>
              </a:defRPr>
            </a:pPr>
            <a:r>
              <a:rPr sz="2400" dirty="0"/>
              <a:t>✅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2415" y="1828800"/>
            <a:ext cx="49377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No sensitive data exposure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Git tracked responsibly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Security audit passed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GDPR friendly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Enterprise-ready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SOC 2 compatible approach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A93F"/>
          </a:solidFill>
          <a:ln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0A93F"/>
                </a:solidFill>
              </a:defRPr>
            </a:pPr>
            <a:r>
              <a:t>DEPLOYMENT OPTIONS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93F"/>
                </a:solidFill>
              </a:defRPr>
            </a:pPr>
            <a:r>
              <a:rPr sz="2400" dirty="0"/>
              <a:t>🚀 NGROK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Fastest (2 min) - Great for demos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458" y="1280160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90618" y="14173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93F"/>
                </a:solidFill>
              </a:defRPr>
            </a:pPr>
            <a:r>
              <a:rPr sz="2400" dirty="0"/>
              <a:t>☁️ PythonAnywhere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0618" y="21031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Recommended (20 min) - Full hosting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2556" y="1280160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9716" y="14173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93F"/>
                </a:solidFill>
              </a:defRPr>
            </a:pPr>
            <a:r>
              <a:rPr sz="2400" dirty="0"/>
              <a:t>🌐 Railway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9716" y="21031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Modern (10 min) - Auto-scaling containers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94759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93F"/>
                </a:solidFill>
              </a:defRPr>
            </a:pPr>
            <a:r>
              <a:rPr sz="2400" dirty="0"/>
              <a:t>🎯 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Free tier (15 min) - Easy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3458" y="3794759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0618" y="39319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93F"/>
                </a:solidFill>
              </a:defRPr>
            </a:pPr>
            <a:r>
              <a:rPr sz="2400" dirty="0"/>
              <a:t>💼 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46177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Enterprise (30 min) - Maximum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2556" y="3794759"/>
            <a:ext cx="3484778" cy="233172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9716" y="3931920"/>
            <a:ext cx="3210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A93F"/>
                </a:solidFill>
              </a:defRPr>
            </a:pPr>
            <a:r>
              <a:rPr sz="2400" dirty="0"/>
              <a:t>🏢 On-Premise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9716" y="4617720"/>
            <a:ext cx="3210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rPr sz="2000" dirty="0"/>
              <a:t>Private (custom) - Company server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ED598"/>
          </a:solidFill>
          <a:ln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ED598"/>
                </a:solidFill>
              </a:defRPr>
            </a:pPr>
            <a:r>
              <a:t>TEAM COLLABORATION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141C23"/>
          </a:solidFill>
          <a:ln w="381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60879" y="1280160"/>
            <a:ext cx="18790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ED598"/>
                </a:solidFill>
              </a:defRPr>
            </a:pPr>
            <a:r>
              <a:rPr sz="2400" dirty="0"/>
              <a:t>USER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Share web link via email/chat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No Power BI Desktop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No installation required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Works on any device/OS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Mobile-friendly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✓ Real-time availability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097280"/>
            <a:ext cx="5486400" cy="5303520"/>
          </a:xfrm>
          <a:prstGeom prst="roundRect">
            <a:avLst/>
          </a:prstGeom>
          <a:solidFill>
            <a:srgbClr val="141C23"/>
          </a:solidFill>
          <a:ln w="381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66816" y="1280160"/>
            <a:ext cx="20489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0A93F"/>
                </a:solidFill>
              </a:defRPr>
            </a:pPr>
            <a:r>
              <a:rPr sz="2400" dirty="0"/>
              <a:t>TYPICAL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2415" y="1828800"/>
            <a:ext cx="49377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Developer uploads .</a:t>
            </a:r>
            <a:r>
              <a:rPr sz="2000" dirty="0" err="1"/>
              <a:t>pbix</a:t>
            </a:r>
            <a:r>
              <a:rPr sz="2000" dirty="0"/>
              <a:t> files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Selects page to map fields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Reviews confidence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Downloads Excel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Shares with stakeholders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rPr sz="2000" dirty="0"/>
              <a:t>⭐ Documents handoff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A8D8"/>
          </a:solidFill>
          <a:ln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FA8D8"/>
                </a:solidFill>
              </a:defRPr>
            </a:pPr>
            <a:r>
              <a:t>SUCCESS METRICS &amp;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176683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A8D8"/>
                </a:solidFill>
              </a:defRPr>
            </a:pPr>
            <a:r>
              <a:rPr sz="2400" dirty="0"/>
              <a:t>TIME SAVED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0020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4-6 hours per report migration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158088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A8D8"/>
                </a:solidFill>
              </a:defRPr>
            </a:pPr>
            <a:r>
              <a:rPr sz="2400" dirty="0"/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0604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95%+ field match accuracy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91840"/>
            <a:ext cx="209865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A8D8"/>
                </a:solidFill>
              </a:defRPr>
            </a:pPr>
            <a:r>
              <a:rPr sz="2400" dirty="0"/>
              <a:t>PRODUCTIVITY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1188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Handle 3-4x more migrations simultaneously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97680"/>
            <a:ext cx="250728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A8D8"/>
                </a:solidFill>
              </a:defRPr>
            </a:pPr>
            <a:r>
              <a:rPr sz="2400" dirty="0"/>
              <a:t>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1772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Automatic field mapping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303520"/>
            <a:ext cx="14141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A8D8"/>
                </a:solidFill>
              </a:defRPr>
            </a:pPr>
            <a:r>
              <a:rPr sz="2400" dirty="0"/>
              <a:t>VELOCITY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2356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Faster report go-live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217920"/>
            <a:ext cx="10728655" cy="822960"/>
          </a:xfrm>
          <a:prstGeom prst="roundRect">
            <a:avLst/>
          </a:prstGeom>
          <a:solidFill>
            <a:srgbClr val="141C23"/>
          </a:solidFill>
          <a:ln w="254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6263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6309360"/>
            <a:ext cx="8547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A8D8"/>
                </a:solidFill>
              </a:defRPr>
            </a:pPr>
            <a:r>
              <a:rPr sz="2400" dirty="0"/>
              <a:t>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662940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 sz="2000" dirty="0"/>
              <a:t>Reduced rework and error correction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4"/>
            </a:gs>
            <a:gs pos="100000">
              <a:srgbClr val="28324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3657600"/>
          </a:xfrm>
          <a:prstGeom prst="rect">
            <a:avLst/>
          </a:prstGeom>
          <a:solidFill>
            <a:srgbClr val="3ED598"/>
          </a:solidFill>
          <a:ln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FA8D8"/>
                </a:solidFill>
              </a:defRPr>
            </a:pPr>
            <a:r>
              <a:t>Ready to Transform Your Field Mapping?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0"/>
              </a:spcBef>
              <a:spcAft>
                <a:spcPts val="2000"/>
              </a:spcAft>
              <a:defRPr sz="4400" b="1">
                <a:solidFill>
                  <a:srgbClr val="0A0F14"/>
                </a:solidFill>
              </a:defRPr>
            </a:pPr>
            <a:r>
              <a:t>🚀 START USING POWER BI FIELD ROUTER TODAY</a:t>
            </a:r>
          </a:p>
          <a:p>
            <a:pPr algn="ctr">
              <a:defRPr sz="2000">
                <a:solidFill>
                  <a:srgbClr val="0A0F14"/>
                </a:solidFill>
              </a:defRPr>
            </a:pPr>
            <a:r>
              <a:t>Created by: Manish Kumar Yadav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779</Words>
  <Application>Microsoft Office PowerPoint</Application>
  <PresentationFormat>Widescreen</PresentationFormat>
  <Paragraphs>190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Manish Kumar Yadav</cp:lastModifiedBy>
  <cp:revision>3</cp:revision>
  <dcterms:created xsi:type="dcterms:W3CDTF">2013-01-27T09:14:16Z</dcterms:created>
  <dcterms:modified xsi:type="dcterms:W3CDTF">2026-07-28T14:13:34Z</dcterms:modified>
  <cp:category/>
</cp:coreProperties>
</file>